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tp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3152"/>
            <a:ext cx="1371600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786384"/>
            <a:ext cx="914400" cy="411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1"/>
          <p:cNvSpPr/>
          <p:nvPr/>
        </p:nvSpPr>
        <p:spPr>
          <a:xfrm>
            <a:off x="274320" y="4754880"/>
            <a:ext cx="8595360" cy="0"/>
          </a:xfrm>
          <a:prstGeom prst="line">
            <a:avLst/>
          </a:prstGeom>
          <a:noFill/>
          <a:ln w="9525">
            <a:solidFill>
              <a:srgbClr val="E4E0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5488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Department of Artificial Intelligence and Machine Learning</a:t>
            </a:r>
            <a:endParaRPr lang="en-US" sz="10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92024"/>
            <a:ext cx="2432304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work/tp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8600"/>
            <a:ext cx="1645920" cy="7896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4048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5C518"/>
                </a:solidFill>
              </a:rPr>
              <a:t>DEPARTMENT OF ARTIFICIAL INTELLIGENCE AND MACHINE LEARNING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3192" y="1691640"/>
            <a:ext cx="612648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84048" y="19202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AegisDev: AI-Native Software Engineering and Development Environment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393192" y="310896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3E1F63"/>
          </a:solidFill>
          <a:ln w="9525">
            <a:solidFill>
              <a:srgbClr val="F5C51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C518"/>
                </a:solidFill>
              </a:rPr>
              <a:t>Team Members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ADHARSH S (231501006)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MAHESH KUMAR J R (231501092)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DEVESH D (231501034)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16752" y="0"/>
            <a:ext cx="312724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16752" y="0"/>
            <a:ext cx="246888" cy="5143500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pic>
        <p:nvPicPr>
          <p:cNvPr id="12" name="Image 1" descr="/home/claude/work/tp-00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83096" y="192024"/>
            <a:ext cx="2432304" cy="46268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4048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Course AD23731 – Foundations of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Problem Definition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08760"/>
            <a:ext cx="3794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Test–diagnose–fix cycles consume a disproportionate share of engineering time.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Concurrency faults such as race conditions are hard to reproduce and debug.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Existing AI coding tools cover only single-pass code generation.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Suggested fixes are not run against real tests, so they stay unverified.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No approval gates, version history or audit trail for AI-authored changes.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Business / Real-World Context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508760"/>
            <a:ext cx="3794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</a:rPr>
              <a:t>Small &amp; Medium Dev Teams –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tight delivery pressure and limited coordination capacity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</a:rPr>
              <a:t>NexaSoft Technologies –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sample company needing an Inventory Management System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</a:rPr>
              <a:t>Inventory Software –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classic defects such as concurrent stock reservation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</a:rPr>
              <a:t>QA &amp; Maintenance Engineers –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recurring defects need reusable fix history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</a:rPr>
              <a:t>Project Managers &amp; Tech Leads –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need delivery visibility and accountability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and Stakeholder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Target Users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743200" cy="283464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Project Managers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Software Developers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QA Engineers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Tech Leads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Engineering Managers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Course Faculty / Evaluators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188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Stakeholder Identification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Stakeholder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Main Need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Client / Business Owner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Working, production-ready software with delivery visibility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Engineering Manager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Access control, role allocation and workload governance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AI System Administrator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Configure LLMs and vector DB; monitor cost and errors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Maintenance Engineer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Fix histories and decision records for recurring defects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Course Faculty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Demonstrable workflow and sound empirical evaluation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System: Analysis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704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Transforms a natural-language client brief into a tested, reviewed and traceable software release through a multi-agent workflow.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6002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09928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916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Client Brief Input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1305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Accepts a natural-language brief and starts the SDLC workflow.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16002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709928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16916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Requirements + Planning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410712" y="21305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Generates the SRS with acceptance criteria and an ordered task plan.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25312" y="160020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709928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6916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Design + Development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062472" y="21305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Proposes architecture, schemas and APIs, then implements the code.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310896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218688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2004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QA Execution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363931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Runs the real test suite inside an isolated Docker sandbox via MCP.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73552" y="310896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3218688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749040" y="32004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Debugging + Agentic RAG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410712" y="363931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Diagnoses stack traces, retrieves targeted fixes, proposes a patch.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25312" y="310896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3218688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3504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32004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Reflection + HITL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363931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Bounded repair loop (max 3), six human gates, then docs and release.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System: Data Sources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70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Indexed technical knowledge and a seeded-defect benchmark support retrieval, debugging and evaluation.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600200"/>
            <a:ext cx="1508760" cy="283464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Verified Past-Fix Memory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231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Patches written back only after passing tests and human sign-off.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1600200"/>
            <a:ext cx="1508760" cy="283464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Technical Documentation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13432" y="24231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Python, PyTest, SQLAlchemy and database transaction isolation.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22192" y="1600200"/>
            <a:ext cx="1508760" cy="283464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13632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Repository &amp; Standards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24231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Target repo docs, coding standards and client requirements.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22392" y="1600200"/>
            <a:ext cx="1508760" cy="283464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13832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ChromaDB Vector Store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13832" y="24231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Overlapping chunks with metadata; HNSW dense search.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22592" y="1600200"/>
            <a:ext cx="1508760" cy="283464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14032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Seeded Defect Benchmark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24231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Inventory Management System bugs, each with a failing test.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D6E2F0"/>
          </a:solidFill>
          <a:ln w="9525">
            <a:solidFill>
              <a:srgbClr val="9DB4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Layer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Technologies /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E3F0FB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17904"/>
            <a:ext cx="329184" cy="329184"/>
          </a:xfrm>
          <a:prstGeom prst="ellipse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63624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14447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1F63"/>
                </a:solidFill>
              </a:rPr>
              <a:t>User Layer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566160" y="1527048"/>
            <a:ext cx="722376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2F6FB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1527048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React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25696" y="1527048"/>
            <a:ext cx="1124712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2F6F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25696" y="152704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TypeScript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87568" y="1527048"/>
            <a:ext cx="1285646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2F6FB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87568" y="1527048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Tailwind CSS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198424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EAE4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2057400"/>
            <a:ext cx="329184" cy="329184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25880" y="19842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1F63"/>
                </a:solidFill>
              </a:rPr>
              <a:t>API &amp; Orchestration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3566160" y="2066544"/>
            <a:ext cx="1929384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5B2D8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566160" y="206654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FastAPI (Auth, RBAC)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632704" y="2066544"/>
            <a:ext cx="1044245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5B2D8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632704" y="2066544"/>
            <a:ext cx="1044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LangGraph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814109" y="2066544"/>
            <a:ext cx="1044245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5B2D8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14109" y="2066544"/>
            <a:ext cx="1044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LangChain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57200" y="252374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E4F3E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6928" y="2596896"/>
            <a:ext cx="329184" cy="32918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66928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42616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325880" y="25237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1F63"/>
                </a:solidFill>
              </a:rPr>
              <a:t>Agent Layer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3566160" y="2606040"/>
            <a:ext cx="1929384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566160" y="260604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LLM Agents (2 tiers)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5632704" y="2606040"/>
            <a:ext cx="1205179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632704" y="2606040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MCP Servers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975043" y="2606040"/>
            <a:ext cx="1446581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975043" y="2606040"/>
            <a:ext cx="14465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Docker Sandbox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457200" y="30632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CF1DA"/>
          </a:solidFill>
          <a:ln w="12700">
            <a:solidFill>
              <a:srgbClr val="C99A1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566928" y="3136392"/>
            <a:ext cx="329184" cy="329184"/>
          </a:xfrm>
          <a:prstGeom prst="ellipse">
            <a:avLst/>
          </a:prstGeom>
          <a:solidFill>
            <a:srgbClr val="C99A1A"/>
          </a:solidFill>
          <a:ln w="12700">
            <a:solidFill>
              <a:srgbClr val="C99A1A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5669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82112"/>
            <a:ext cx="237744" cy="237744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1325880" y="3063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1F63"/>
                </a:solidFill>
              </a:rPr>
              <a:t>Knowledge Layer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3566160" y="3145536"/>
            <a:ext cx="96377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C99A1A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3566160" y="3145536"/>
            <a:ext cx="963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ChromaDB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4667098" y="3145536"/>
            <a:ext cx="1205179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C99A1A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4667098" y="3145536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Agentic RAG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6009437" y="3145536"/>
            <a:ext cx="1124712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C99A1A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009437" y="3145536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HNSW Index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457200" y="360273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BE3E3"/>
          </a:solidFill>
          <a:ln w="12700">
            <a:solidFill>
              <a:srgbClr val="B03A3A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66928" y="3675888"/>
            <a:ext cx="329184" cy="329184"/>
          </a:xfrm>
          <a:prstGeom prst="ellipse">
            <a:avLst/>
          </a:prstGeom>
          <a:solidFill>
            <a:srgbClr val="B03A3A"/>
          </a:solidFill>
          <a:ln w="12700">
            <a:solidFill>
              <a:srgbClr val="B03A3A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566928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721608"/>
            <a:ext cx="237744" cy="237744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1325880" y="36027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1F63"/>
                </a:solidFill>
              </a:rPr>
              <a:t>HITL Review Layer</a:t>
            </a:r>
            <a:endParaRPr lang="en-US" sz="1250" dirty="0"/>
          </a:p>
        </p:txBody>
      </p:sp>
      <p:sp>
        <p:nvSpPr>
          <p:cNvPr id="57" name="Shape 50"/>
          <p:cNvSpPr/>
          <p:nvPr/>
        </p:nvSpPr>
        <p:spPr>
          <a:xfrm>
            <a:off x="3566160" y="3685032"/>
            <a:ext cx="1205179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B03A3A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3566160" y="3685032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Diff Review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4908499" y="3685032"/>
            <a:ext cx="176845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B03A3A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4908499" y="3685032"/>
            <a:ext cx="1768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Six Approval Gates</a:t>
            </a:r>
            <a:endParaRPr lang="en-US" sz="1050" dirty="0"/>
          </a:p>
        </p:txBody>
      </p:sp>
      <p:sp>
        <p:nvSpPr>
          <p:cNvPr id="61" name="Shape 54"/>
          <p:cNvSpPr/>
          <p:nvPr/>
        </p:nvSpPr>
        <p:spPr>
          <a:xfrm>
            <a:off x="6814109" y="3685032"/>
            <a:ext cx="1205179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B03A3A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6814109" y="3685032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Audit Trail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457200" y="414223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DFF3F1"/>
          </a:solidFill>
          <a:ln w="12700">
            <a:solidFill>
              <a:srgbClr val="1E8A7F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566928" y="4215384"/>
            <a:ext cx="329184" cy="329184"/>
          </a:xfrm>
          <a:prstGeom prst="ellipse">
            <a:avLst/>
          </a:prstGeom>
          <a:solidFill>
            <a:srgbClr val="1E8A7F"/>
          </a:solidFill>
          <a:ln w="12700">
            <a:solidFill>
              <a:srgbClr val="1E8A7F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566928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261104"/>
            <a:ext cx="237744" cy="237744"/>
          </a:xfrm>
          <a:prstGeom prst="rect">
            <a:avLst/>
          </a:prstGeom>
        </p:spPr>
      </p:pic>
      <p:sp>
        <p:nvSpPr>
          <p:cNvPr id="67" name="Text 59"/>
          <p:cNvSpPr txBox="1"/>
          <p:nvPr/>
        </p:nvSpPr>
        <p:spPr>
          <a:xfrm>
            <a:off x="1325880" y="41422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1F63"/>
                </a:solidFill>
              </a:rPr>
              <a:t>Data Layer</a:t>
            </a:r>
            <a:endParaRPr lang="en-US" sz="1250" dirty="0"/>
          </a:p>
        </p:txBody>
      </p:sp>
      <p:sp>
        <p:nvSpPr>
          <p:cNvPr id="68" name="Shape 60"/>
          <p:cNvSpPr/>
          <p:nvPr/>
        </p:nvSpPr>
        <p:spPr>
          <a:xfrm>
            <a:off x="3566160" y="4224528"/>
            <a:ext cx="1124712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1E8A7F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3566160" y="422452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PostgreSQL</a:t>
            </a:r>
            <a:endParaRPr lang="en-US" sz="1050" dirty="0"/>
          </a:p>
        </p:txBody>
      </p:sp>
      <p:sp>
        <p:nvSpPr>
          <p:cNvPr id="70" name="Shape 62"/>
          <p:cNvSpPr/>
          <p:nvPr/>
        </p:nvSpPr>
        <p:spPr>
          <a:xfrm>
            <a:off x="4828032" y="4224528"/>
            <a:ext cx="802843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1E8A7F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4828032" y="4224528"/>
            <a:ext cx="8028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SQLite</a:t>
            </a:r>
            <a:endParaRPr lang="en-US" sz="1050" dirty="0"/>
          </a:p>
        </p:txBody>
      </p:sp>
      <p:sp>
        <p:nvSpPr>
          <p:cNvPr id="72" name="Shape 64"/>
          <p:cNvSpPr/>
          <p:nvPr/>
        </p:nvSpPr>
        <p:spPr>
          <a:xfrm>
            <a:off x="5768035" y="4224528"/>
            <a:ext cx="209031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1E8A7F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5768035" y="4224528"/>
            <a:ext cx="20903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</a:rPr>
              <a:t>LangGraph Checkpointer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39312"/>
          </a:xfrm>
          <a:prstGeom prst="roundRect">
            <a:avLst>
              <a:gd name="adj" fmla="val 2010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097280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EAE4F7"/>
          </a:solidFill>
          <a:ln w="15875">
            <a:solidFill>
              <a:srgbClr val="5B2D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115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LANGGRAPH ORCHESTRATOR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371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Task Routing  |  Shared State  |  HITL Interrupts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664208"/>
            <a:ext cx="0" cy="237744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1691640" cy="896112"/>
          </a:xfrm>
          <a:prstGeom prst="roundRect">
            <a:avLst>
              <a:gd name="adj" fmla="val 7143"/>
            </a:avLst>
          </a:prstGeom>
          <a:solidFill>
            <a:srgbClr val="E4F3E8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1  Requirements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SRS + acceptance criteria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31720" y="2368296"/>
            <a:ext cx="320040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51760" y="1920240"/>
            <a:ext cx="1691640" cy="896112"/>
          </a:xfrm>
          <a:prstGeom prst="roundRect">
            <a:avLst>
              <a:gd name="adj" fmla="val 7143"/>
            </a:avLst>
          </a:prstGeom>
          <a:solidFill>
            <a:srgbClr val="FCF1DA"/>
          </a:solidFill>
          <a:ln w="15875">
            <a:solidFill>
              <a:srgbClr val="C99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2491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2  Planning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Tasks, sprint plan, effort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2368296"/>
            <a:ext cx="320040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63440" y="1920240"/>
            <a:ext cx="1691640" cy="896112"/>
          </a:xfrm>
          <a:prstGeom prst="roundRect">
            <a:avLst>
              <a:gd name="adj" fmla="val 7143"/>
            </a:avLst>
          </a:prstGeom>
          <a:solidFill>
            <a:srgbClr val="FBE3E3"/>
          </a:solidFill>
          <a:ln w="15875">
            <a:solidFill>
              <a:srgbClr val="B03A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3659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3  Design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36592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Architecture, schema, APIs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2368296"/>
            <a:ext cx="320040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1920240"/>
            <a:ext cx="1691640" cy="896112"/>
          </a:xfrm>
          <a:prstGeom prst="roundRect">
            <a:avLst>
              <a:gd name="adj" fmla="val 7143"/>
            </a:avLst>
          </a:prstGeom>
          <a:solidFill>
            <a:srgbClr val="E3F0FB"/>
          </a:solidFill>
          <a:ln w="15875">
            <a:solidFill>
              <a:srgbClr val="2F6F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4827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4  Development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Writes code, applies patches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154680"/>
            <a:ext cx="1691640" cy="896112"/>
          </a:xfrm>
          <a:prstGeom prst="roundRect">
            <a:avLst>
              <a:gd name="adj" fmla="val 7143"/>
            </a:avLst>
          </a:prstGeom>
          <a:solidFill>
            <a:srgbClr val="E4F3E8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5  QA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Runs real tests (read-only)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31720" y="3602736"/>
            <a:ext cx="320040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651760" y="3154680"/>
            <a:ext cx="1691640" cy="896112"/>
          </a:xfrm>
          <a:prstGeom prst="roundRect">
            <a:avLst>
              <a:gd name="adj" fmla="val 7143"/>
            </a:avLst>
          </a:prstGeom>
          <a:solidFill>
            <a:srgbClr val="FCF1DA"/>
          </a:solidFill>
          <a:ln w="15875">
            <a:solidFill>
              <a:srgbClr val="C99A1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2491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6  Debugging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724912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Stack-trace diagnosis + RAG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3602736"/>
            <a:ext cx="320040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663440" y="3154680"/>
            <a:ext cx="1691640" cy="896112"/>
          </a:xfrm>
          <a:prstGeom prst="roundRect">
            <a:avLst>
              <a:gd name="adj" fmla="val 7143"/>
            </a:avLst>
          </a:prstGeom>
          <a:solidFill>
            <a:srgbClr val="EAE4F7"/>
          </a:solidFill>
          <a:ln w="15875">
            <a:solidFill>
              <a:srgbClr val="5B2D8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3659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7  Documentation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736592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User and API guides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5080" y="3602736"/>
            <a:ext cx="320040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75120" y="3154680"/>
            <a:ext cx="1691640" cy="896112"/>
          </a:xfrm>
          <a:prstGeom prst="roundRect">
            <a:avLst>
              <a:gd name="adj" fmla="val 7143"/>
            </a:avLst>
          </a:prstGeom>
          <a:solidFill>
            <a:srgbClr val="FDEBDD"/>
          </a:solidFill>
          <a:ln w="15875">
            <a:solidFill>
              <a:srgbClr val="D982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4827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8  Release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748272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Build + release checklist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77440" y="2852928"/>
            <a:ext cx="4389120" cy="274320"/>
          </a:xfrm>
          <a:prstGeom prst="roundRect">
            <a:avLst>
              <a:gd name="adj" fmla="val 23333"/>
            </a:avLst>
          </a:prstGeom>
          <a:solidFill>
            <a:srgbClr val="F0EAFB"/>
          </a:solidFill>
          <a:ln w="9525">
            <a:solidFill>
              <a:srgbClr val="5B2D8E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2377440" y="2852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D8E"/>
                </a:solidFill>
              </a:rPr>
              <a:t>Reflection &amp; Bounded Self-Correction (max 3)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4178808"/>
            <a:ext cx="7863840" cy="384048"/>
          </a:xfrm>
          <a:prstGeom prst="roundRect">
            <a:avLst>
              <a:gd name="adj" fmla="val 16667"/>
            </a:avLst>
          </a:prstGeom>
          <a:solidFill>
            <a:srgbClr val="E3F0FB"/>
          </a:solidFill>
          <a:ln w="9525">
            <a:solidFill>
              <a:srgbClr val="2F6FB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41788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Shared Typed State &amp; Persistent Memory  (LangGraph checkpointer + Chroma + PostgreSQL / SQLite)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Responsibilities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521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2222"/>
                </a:solidFill>
              </a:rPr>
              <a:t>The proposed system consists of eight specialized agents coordinated by LangGraph.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" y="1508760"/>
            <a:ext cx="18745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REQUIREMENTS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Analyzes the client brief: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057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SRS document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acceptance criteria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15184" y="1508760"/>
            <a:ext cx="18745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06624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PLANNING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Breaks scope into: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706624" y="2057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ordered subtasks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owner + artifact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effort estimates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1508760"/>
            <a:ext cx="18745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0016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DESIGN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00016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Proposes: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700016" y="2057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system architecture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database schemas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API contracts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01968" y="1508760"/>
            <a:ext cx="18745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DEVELOPMENT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693408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Implements: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693408" y="20574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source code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approved patches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only agent writing files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3081528"/>
            <a:ext cx="18745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31455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QA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Executes: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36301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real test suites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stack traces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cannot modify code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15184" y="3081528"/>
            <a:ext cx="18745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06624" y="31455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DEBUGGING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Diagnoses failures: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706624" y="36301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decides retrieval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proposes diff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cannot merge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08576" y="3081528"/>
            <a:ext cx="18745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0016" y="31455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DOCUMENTATION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00016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Produces: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700016" y="36301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user guide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API guide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01968" y="3081528"/>
            <a:ext cx="18745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93408" y="31455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RELEASE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693408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Prepares: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693408" y="36301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deployment build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release checklist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release package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 and Orchestration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39312"/>
          </a:xfrm>
          <a:prstGeom prst="roundRect">
            <a:avLst>
              <a:gd name="adj" fmla="val 2010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4297680" cy="566928"/>
          </a:xfrm>
          <a:prstGeom prst="roundRect">
            <a:avLst>
              <a:gd name="adj" fmla="val 11290"/>
            </a:avLst>
          </a:prstGeom>
          <a:solidFill>
            <a:srgbClr val="E3F0FB"/>
          </a:solidFill>
          <a:ln w="9525">
            <a:solidFill>
              <a:srgbClr val="2F6FB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1F63"/>
                </a:solidFill>
              </a:rPr>
              <a:t>Shared typed state + checkpointer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E1F63"/>
                </a:solidFill>
              </a:rPr>
              <a:t>(brief, srs, plan, design, code_files, test_report …)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E3F0FB"/>
          </a:solidFill>
          <a:ln w="15875">
            <a:solidFill>
              <a:srgbClr val="2F6F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Brief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2583180"/>
            <a:ext cx="219456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73936" y="224028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E4F3E8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73936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Require-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88336" y="2583180"/>
            <a:ext cx="219456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07792" y="224028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FCF1DA"/>
          </a:solidFill>
          <a:ln w="15875">
            <a:solidFill>
              <a:srgbClr val="C99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Planning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22192" y="2583180"/>
            <a:ext cx="219456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41648" y="224028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FBE3E3"/>
          </a:solidFill>
          <a:ln w="15875">
            <a:solidFill>
              <a:srgbClr val="B03A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41648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56048" y="2583180"/>
            <a:ext cx="219456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75504" y="224028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E3F0FB"/>
          </a:solidFill>
          <a:ln w="15875">
            <a:solidFill>
              <a:srgbClr val="2F6F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75504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Develop-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9904" y="2583180"/>
            <a:ext cx="219456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9360" y="2240280"/>
            <a:ext cx="914400" cy="685800"/>
          </a:xfrm>
          <a:prstGeom prst="roundRect">
            <a:avLst>
              <a:gd name="adj" fmla="val 9333"/>
            </a:avLst>
          </a:prstGeom>
          <a:solidFill>
            <a:srgbClr val="E4F3E8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QA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2583180"/>
            <a:ext cx="219456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43216" y="2194560"/>
            <a:ext cx="1051560" cy="777240"/>
          </a:xfrm>
          <a:prstGeom prst="diamond">
            <a:avLst/>
          </a:prstGeom>
          <a:solidFill>
            <a:srgbClr val="EAE4F7"/>
          </a:solidFill>
          <a:ln w="15875">
            <a:solidFill>
              <a:srgbClr val="5B2D8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43216" y="21945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Pass?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75504" y="1280160"/>
            <a:ext cx="914400" cy="594360"/>
          </a:xfrm>
          <a:prstGeom prst="roundRect">
            <a:avLst>
              <a:gd name="adj" fmla="val 10769"/>
            </a:avLst>
          </a:prstGeom>
          <a:solidFill>
            <a:srgbClr val="FCF1DA"/>
          </a:solidFill>
          <a:ln w="15875">
            <a:solidFill>
              <a:srgbClr val="C99A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75504" y="1280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Debugging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32704" y="1874520"/>
            <a:ext cx="0" cy="365760"/>
          </a:xfrm>
          <a:prstGeom prst="line">
            <a:avLst/>
          </a:prstGeom>
          <a:noFill/>
          <a:ln w="19050">
            <a:solidFill>
              <a:srgbClr val="B03A3A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657600" y="1901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3A3A"/>
                </a:solidFill>
              </a:rPr>
              <a:t>refine &amp; re-implement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68996" y="1577340"/>
            <a:ext cx="0" cy="617220"/>
          </a:xfrm>
          <a:prstGeom prst="line">
            <a:avLst/>
          </a:prstGeom>
          <a:noFill/>
          <a:ln w="19050">
            <a:solidFill>
              <a:srgbClr val="B03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6089904" y="1577340"/>
            <a:ext cx="1879092" cy="0"/>
          </a:xfrm>
          <a:prstGeom prst="line">
            <a:avLst/>
          </a:prstGeom>
          <a:noFill/>
          <a:ln w="19050">
            <a:solidFill>
              <a:srgbClr val="B03A3A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8028432" y="1783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3A3A"/>
                </a:solidFill>
              </a:rPr>
              <a:t>No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1298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3A"/>
                </a:solidFill>
              </a:rPr>
              <a:t>Max 3 repairs, then escalate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68996" y="2971800"/>
            <a:ext cx="0" cy="54864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028432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352044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FBE3E3"/>
          </a:solidFill>
          <a:ln w="15875">
            <a:solidFill>
              <a:srgbClr val="B03A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0664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Human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Gate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 flipH="1">
            <a:off x="7040880" y="3863340"/>
            <a:ext cx="365760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943600" y="352044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EAE4F7"/>
          </a:solidFill>
          <a:ln w="15875">
            <a:solidFill>
              <a:srgbClr val="5B2D8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Documen-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tation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5577840" y="3863340"/>
            <a:ext cx="365760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480560" y="352044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15875">
            <a:solidFill>
              <a:srgbClr val="D982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8056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Release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flipH="1">
            <a:off x="4114800" y="3863340"/>
            <a:ext cx="365760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017520" y="352044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E4F3E8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01752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Release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Package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3520440"/>
            <a:ext cx="26517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13232" y="3557016"/>
            <a:ext cx="2514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1F63"/>
                </a:solidFill>
              </a:rPr>
              <a:t>6 HITL gates: Requirements, Plan, Architecture, Code review, Test acceptance, Release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88720"/>
            <a:ext cx="2377440" cy="333756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80160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80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Workflow Sequence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91640"/>
            <a:ext cx="21945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1. Client Brief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2. Requirements Agent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3. Planning Agent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4. Design Agent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5. Development Agent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6. QA Agent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7. Test Outcome Check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8. Debugging ⇄ Development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9. HITL Approval Gate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10. Documentation Agent</a:t>
            </a:r>
            <a:endParaRPr lang="en-US" sz="1100" dirty="0"/>
          </a:p>
          <a:p>
            <a:pPr indent="0" marL="0"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6B6580"/>
                </a:solidFill>
              </a:rPr>
              <a:t>11. Release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188720"/>
            <a:ext cx="28803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280160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1868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280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Shared Typed State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166420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6580"/>
                </a:solidFill>
              </a:rPr>
              <a:t>brief · srs · plan · design · code_files · test_report · error_trace · iteration · retrieved_context · fix_proposal · docs · release · gate · human_decision · decisions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2834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“LangGraph is the orchestration backbone of AegisDev: agents share state, route conditionally, self-correct within a bounded loop, and pause for human approval.”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840480"/>
            <a:ext cx="2880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38862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LangGraph StateGraph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</a:rPr>
              <a:t>Agents are nodes, transitions are edges.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423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280160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2801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Persistent Data Layer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664208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Requirements and tasks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Designs and code revisions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Test logs and traces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Human approvals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Releases and audit trail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474720"/>
            <a:ext cx="2423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Conditional Routing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</a:rPr>
              <a:t>After QA: 0 failures → test gate; cap exceeded → escalate; else → Debugging.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Tiered 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39312"/>
          </a:xfrm>
          <a:prstGeom prst="roundRect">
            <a:avLst>
              <a:gd name="adj" fmla="val 2010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15568"/>
            <a:ext cx="1143000" cy="3429000"/>
          </a:xfrm>
          <a:prstGeom prst="roundRect">
            <a:avLst>
              <a:gd name="adj" fmla="val 4800"/>
            </a:avLst>
          </a:prstGeom>
          <a:solidFill>
            <a:srgbClr val="E3F0FB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2980" y="1188720"/>
            <a:ext cx="310896" cy="310896"/>
          </a:xfrm>
          <a:prstGeom prst="ellipse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298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5448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User Layer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57400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0936" y="2542032"/>
            <a:ext cx="1014984" cy="1920240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9525">
            <a:solidFill>
              <a:srgbClr val="2F6F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" y="2596896"/>
            <a:ext cx="923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Project manager, developer, QA, tech lead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Natural-language client brief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React web UI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709928" y="2926080"/>
            <a:ext cx="82387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792224" y="1115568"/>
            <a:ext cx="1280160" cy="3429000"/>
          </a:xfrm>
          <a:prstGeom prst="roundRect">
            <a:avLst>
              <a:gd name="adj" fmla="val 4286"/>
            </a:avLst>
          </a:prstGeom>
          <a:solidFill>
            <a:srgbClr val="EAE4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76856" y="1188720"/>
            <a:ext cx="310896" cy="310896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276856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819656" y="155448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Orchestration Layer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2057400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856232" y="2542032"/>
            <a:ext cx="1152144" cy="19202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5B2D8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901952" y="2596896"/>
            <a:ext cx="1060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FastAPI + RBAC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LangGraph StateGraph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Checkpoints, conditional routing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072384" y="2926080"/>
            <a:ext cx="82387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3154680" y="1115568"/>
            <a:ext cx="1600200" cy="3429000"/>
          </a:xfrm>
          <a:prstGeom prst="roundRect">
            <a:avLst>
              <a:gd name="adj" fmla="val 3429"/>
            </a:avLst>
          </a:prstGeom>
          <a:solidFill>
            <a:srgbClr val="E4F3E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99332" y="118872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79933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3182112" y="15544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Agent Layer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205740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218688" y="2542032"/>
            <a:ext cx="1472184" cy="1920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264408" y="2596896"/>
            <a:ext cx="1380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 Requirements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 Planning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3 Design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4 Development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5 QA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6 Debugging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7 Documentation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8 Release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754880" y="2926080"/>
            <a:ext cx="82387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4837176" y="1115568"/>
            <a:ext cx="1188720" cy="3429000"/>
          </a:xfrm>
          <a:prstGeom prst="roundRect">
            <a:avLst>
              <a:gd name="adj" fmla="val 4615"/>
            </a:avLst>
          </a:prstGeom>
          <a:solidFill>
            <a:srgbClr val="FCF1DA"/>
          </a:solidFill>
          <a:ln w="12700">
            <a:solidFill>
              <a:srgbClr val="C99A1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276088" y="1188720"/>
            <a:ext cx="310896" cy="310896"/>
          </a:xfrm>
          <a:prstGeom prst="ellipse">
            <a:avLst/>
          </a:prstGeom>
          <a:solidFill>
            <a:srgbClr val="C99A1A"/>
          </a:solidFill>
          <a:ln w="12700">
            <a:solidFill>
              <a:srgbClr val="C99A1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276088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4864608" y="15544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Knowledge Layer</a:t>
            </a:r>
            <a:endParaRPr lang="en-US" sz="11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2057400"/>
            <a:ext cx="365760" cy="36576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901184" y="2542032"/>
            <a:ext cx="1060704" cy="192024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C99A1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4946904" y="2596896"/>
            <a:ext cx="969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Agentic RAG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Past fixes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Technical docs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Repo docs, standards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025896" y="2926080"/>
            <a:ext cx="82387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38" name="Shape 32"/>
          <p:cNvSpPr/>
          <p:nvPr/>
        </p:nvSpPr>
        <p:spPr>
          <a:xfrm>
            <a:off x="6108192" y="1115568"/>
            <a:ext cx="1188720" cy="3429000"/>
          </a:xfrm>
          <a:prstGeom prst="roundRect">
            <a:avLst>
              <a:gd name="adj" fmla="val 4615"/>
            </a:avLst>
          </a:prstGeom>
          <a:solidFill>
            <a:srgbClr val="FBE3E3"/>
          </a:solidFill>
          <a:ln w="12700">
            <a:solidFill>
              <a:srgbClr val="B03A3A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547104" y="1188720"/>
            <a:ext cx="310896" cy="310896"/>
          </a:xfrm>
          <a:prstGeom prst="ellipse">
            <a:avLst/>
          </a:prstGeom>
          <a:solidFill>
            <a:srgbClr val="B03A3A"/>
          </a:solidFill>
          <a:ln w="12700">
            <a:solidFill>
              <a:srgbClr val="B03A3A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547104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6135624" y="15544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Data Layer</a:t>
            </a:r>
            <a:endParaRPr lang="en-US" sz="11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057400"/>
            <a:ext cx="365760" cy="36576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6172200" y="2542032"/>
            <a:ext cx="1060704" cy="192024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B03A3A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217920" y="2596896"/>
            <a:ext cx="969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PostgreSQL / SQLite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Artifacts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Test results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Audit logs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7296912" y="2926080"/>
            <a:ext cx="82387" cy="0"/>
          </a:xfrm>
          <a:prstGeom prst="line">
            <a:avLst/>
          </a:prstGeom>
          <a:noFill/>
          <a:ln w="19050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46" name="Shape 39"/>
          <p:cNvSpPr/>
          <p:nvPr/>
        </p:nvSpPr>
        <p:spPr>
          <a:xfrm>
            <a:off x="7379208" y="1115568"/>
            <a:ext cx="1097280" cy="3429000"/>
          </a:xfrm>
          <a:prstGeom prst="roundRect">
            <a:avLst>
              <a:gd name="adj" fmla="val 5000"/>
            </a:avLst>
          </a:prstGeom>
          <a:solidFill>
            <a:srgbClr val="DFF3F1"/>
          </a:solidFill>
          <a:ln w="12700">
            <a:solidFill>
              <a:srgbClr val="1E8A7F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7772400" y="1188720"/>
            <a:ext cx="310896" cy="310896"/>
          </a:xfrm>
          <a:prstGeom prst="ellipse">
            <a:avLst/>
          </a:prstGeom>
          <a:solidFill>
            <a:srgbClr val="1E8A7F"/>
          </a:solidFill>
          <a:ln w="12700">
            <a:solidFill>
              <a:srgbClr val="1E8A7F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777240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7406640" y="155448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Infra Layer</a:t>
            </a:r>
            <a:endParaRPr lang="en-US" sz="11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2057400"/>
            <a:ext cx="365760" cy="365760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7443216" y="2542032"/>
            <a:ext cx="969264" cy="1920240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1E8A7F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7488936" y="2596896"/>
            <a:ext cx="877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MCP servers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Docker sandbox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LLM tiers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Git workspace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8872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80160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80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Retrieval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280160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1280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Why Agentic Retrieval?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188720"/>
            <a:ext cx="2606040" cy="333756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48" y="1280160"/>
            <a:ext cx="292608" cy="29260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904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280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Retrieval Quality Evaluation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6580"/>
                </a:solidFill>
              </a:rPr>
              <a:t>Chroma collections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Verified past fixes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Technical docs (Python, PyTest, SQLAlchemy)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Repository docs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Engineering standards</a:t>
            </a:r>
            <a:pPr indent="0" marL="0">
              <a:spcBef>
                <a:spcPts val="800"/>
              </a:spcBef>
              <a:buNone/>
            </a:pPr>
            <a:r>
              <a:rPr lang="en-US" sz="1050" b="1" dirty="0">
                <a:solidFill>
                  <a:srgbClr val="3E1F63"/>
                </a:solidFill>
              </a:rPr>
              <a:t>Dense HNSW search, metadata filters and a similarity threshold return the most relevant chunks.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6580"/>
                </a:solidFill>
              </a:rPr>
              <a:t>On a test failure the Debugging Agent chooses: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Past-fix memory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Technical documentation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B6580"/>
                </a:solidFill>
              </a:rPr>
              <a:t>No retrieval</a:t>
            </a:r>
            <a:pPr indent="0" marL="0">
              <a:spcBef>
                <a:spcPts val="800"/>
              </a:spcBef>
              <a:buNone/>
            </a:pPr>
            <a:r>
              <a:rPr lang="en-US" sz="1050" b="1" dirty="0">
                <a:solidFill>
                  <a:srgbClr val="3E1F63"/>
                </a:solidFill>
              </a:rPr>
              <a:t>It writes a targeted query, checks similarity, and may reformulate or switch collection (max 2 attempts) before falling back.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6580"/>
                </a:solidFill>
              </a:rPr>
              <a:t>Benchmark compares:</a:t>
            </a:r>
            <a:endParaRPr lang="en-US" sz="10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6B6580"/>
                </a:solidFill>
              </a:rPr>
              <a:t>Baseline 1 — No retrieval</a:t>
            </a:r>
            <a:endParaRPr lang="en-US" sz="10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6B6580"/>
                </a:solidFill>
              </a:rPr>
              <a:t>Baseline 2 — Fixed RAG</a:t>
            </a:r>
            <a:endParaRPr lang="en-US" sz="10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b="1" dirty="0">
                <a:solidFill>
                  <a:schemeClr val="accent1"/>
                </a:solidFill>
              </a:rPr>
              <a:t>Proposed — AegisDev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6580"/>
                </a:solidFill>
              </a:rPr>
              <a:t>→ Agentic RAG + real tests + human gates</a:t>
            </a:r>
            <a:endParaRPr lang="en-US" sz="105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050" b="1" dirty="0">
                <a:solidFill>
                  <a:srgbClr val="3E1F63"/>
                </a:solidFill>
              </a:rPr>
              <a:t>Metrics: Precision@k, Recall@k, MRR, decision accuracy, citation correctness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D6E2F0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Main Technologies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075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React + TypeScript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1848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Frontend 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21408" y="1280160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21408" y="13075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FastAPI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161848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Backend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5616" y="1280160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85616" y="13075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LangGraph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161848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Agent orchestration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9824" y="1280160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9824" y="13075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ChromaDB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49824" y="161848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Knowledge retrieval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14032" y="1280160"/>
            <a:ext cx="157276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14032" y="13075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Docker + MCP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161848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Sandboxed execution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029968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D6E2F0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Implementation 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359152"/>
            <a:ext cx="1225296" cy="868680"/>
          </a:xfrm>
          <a:prstGeom prst="roundRect">
            <a:avLst>
              <a:gd name="adj" fmla="val 7368"/>
            </a:avLst>
          </a:prstGeom>
          <a:solidFill>
            <a:srgbClr val="E3F0FB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" y="239572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1F63"/>
                </a:solidFill>
              </a:rPr>
              <a:t>Client Brief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93776" y="28072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Natural-language task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82496" y="2788920"/>
            <a:ext cx="164592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847088" y="2359152"/>
            <a:ext cx="1225296" cy="868680"/>
          </a:xfrm>
          <a:prstGeom prst="roundRect">
            <a:avLst>
              <a:gd name="adj" fmla="val 7368"/>
            </a:avLst>
          </a:prstGeom>
          <a:solidFill>
            <a:srgbClr val="E4F3E8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883664" y="239572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1F63"/>
                </a:solidFill>
              </a:rPr>
              <a:t>Requirements, Plan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883664" y="28072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SRS + task plan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72384" y="2788920"/>
            <a:ext cx="164592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36976" y="2359152"/>
            <a:ext cx="1225296" cy="868680"/>
          </a:xfrm>
          <a:prstGeom prst="roundRect">
            <a:avLst>
              <a:gd name="adj" fmla="val 7368"/>
            </a:avLst>
          </a:prstGeom>
          <a:solidFill>
            <a:srgbClr val="FBE3E3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73552" y="239572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1F63"/>
                </a:solidFill>
              </a:rPr>
              <a:t>Design, Code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273552" y="28072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Architecture + source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62272" y="2788920"/>
            <a:ext cx="164592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626864" y="2359152"/>
            <a:ext cx="1225296" cy="868680"/>
          </a:xfrm>
          <a:prstGeom prst="roundRect">
            <a:avLst>
              <a:gd name="adj" fmla="val 7368"/>
            </a:avLst>
          </a:prstGeom>
          <a:solidFill>
            <a:srgbClr val="EAE4F7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239572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1F63"/>
                </a:solidFill>
              </a:rPr>
              <a:t>QA Tests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28072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Real test run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52160" y="2788920"/>
            <a:ext cx="164592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16752" y="2359152"/>
            <a:ext cx="1225296" cy="868680"/>
          </a:xfrm>
          <a:prstGeom prst="roundRect">
            <a:avLst>
              <a:gd name="adj" fmla="val 7368"/>
            </a:avLst>
          </a:prstGeom>
          <a:solidFill>
            <a:srgbClr val="FCF1DA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53328" y="239572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1F63"/>
                </a:solidFill>
              </a:rPr>
              <a:t>Debug + RAG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053328" y="28072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Patch with rationale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42048" y="2788920"/>
            <a:ext cx="164592" cy="0"/>
          </a:xfrm>
          <a:prstGeom prst="line">
            <a:avLst/>
          </a:prstGeom>
          <a:noFill/>
          <a:ln w="19050">
            <a:solidFill>
              <a:srgbClr val="3E1F6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406640" y="2359152"/>
            <a:ext cx="1225296" cy="868680"/>
          </a:xfrm>
          <a:prstGeom prst="roundRect">
            <a:avLst>
              <a:gd name="adj" fmla="val 7368"/>
            </a:avLst>
          </a:prstGeom>
          <a:solidFill>
            <a:srgbClr val="E4F3E8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43216" y="239572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1F63"/>
                </a:solidFill>
              </a:rPr>
              <a:t>Docs, Release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443216" y="28072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Package + audit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337560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D6E2F0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Functional Prototype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3657600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0352" y="3721608"/>
            <a:ext cx="256032" cy="25603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0352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402336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Accepts a client brief and shows the plan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121408" y="3657600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4560" y="3721608"/>
            <a:ext cx="256032" cy="25603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19456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2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2212848" y="402336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Coordinates eight specialized agents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85616" y="3657600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58768" y="3721608"/>
            <a:ext cx="256032" cy="25603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858768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3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3877056" y="402336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Executes real tests in a Docker sandbox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49824" y="3657600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22976" y="3721608"/>
            <a:ext cx="256032" cy="25603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522976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4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5541264" y="402336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Proposes diffs with retrieved evidence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114032" y="3657600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87184" y="3721608"/>
            <a:ext cx="256032" cy="25603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187184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5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7205472" y="402336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Stores traces, approvals and release package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Prototype Screenshots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97480" cy="1481328"/>
          </a:xfrm>
          <a:prstGeom prst="roundRect">
            <a:avLst>
              <a:gd name="adj" fmla="val 3086"/>
            </a:avLst>
          </a:prstGeom>
          <a:solidFill>
            <a:srgbClr val="0B0F1A"/>
          </a:solidFill>
          <a:ln w="9525">
            <a:solidFill>
              <a:srgbClr val="DDD5EE"/>
            </a:solidFill>
            <a:prstDash val="solid"/>
          </a:ln>
        </p:spPr>
      </p:sp>
      <p:pic>
        <p:nvPicPr>
          <p:cNvPr id="6" name="Image 0" descr="/home/claude/work/word/media/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" y="1033272"/>
            <a:ext cx="2642616" cy="1426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5146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Orchestration workspace and HITL gates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697480" cy="1481328"/>
          </a:xfrm>
          <a:prstGeom prst="roundRect">
            <a:avLst>
              <a:gd name="adj" fmla="val 3086"/>
            </a:avLst>
          </a:prstGeom>
          <a:solidFill>
            <a:srgbClr val="0B0F1A"/>
          </a:solidFill>
          <a:ln w="9525">
            <a:solidFill>
              <a:srgbClr val="DDD5EE"/>
            </a:solidFill>
            <a:prstDash val="solid"/>
          </a:ln>
        </p:spPr>
      </p:sp>
      <p:pic>
        <p:nvPicPr>
          <p:cNvPr id="9" name="Image 1" descr="/home/claude/work/word/media/image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9272" y="1033272"/>
            <a:ext cx="2642616" cy="1426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25146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Development workspace and concurrency simulation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816352"/>
            <a:ext cx="2697480" cy="1481328"/>
          </a:xfrm>
          <a:prstGeom prst="roundRect">
            <a:avLst>
              <a:gd name="adj" fmla="val 3086"/>
            </a:avLst>
          </a:prstGeom>
          <a:solidFill>
            <a:srgbClr val="0B0F1A"/>
          </a:solidFill>
          <a:ln w="9525">
            <a:solidFill>
              <a:srgbClr val="DDD5EE"/>
            </a:solidFill>
            <a:prstDash val="solid"/>
          </a:ln>
        </p:spPr>
      </p:sp>
      <p:pic>
        <p:nvPicPr>
          <p:cNvPr id="12" name="Image 2" descr="/home/claude/work/word/media/image6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4632" y="2843784"/>
            <a:ext cx="2642616" cy="1426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43251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Self-correction: diff, RAG match, approve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291840" y="2816352"/>
            <a:ext cx="2697480" cy="1481328"/>
          </a:xfrm>
          <a:prstGeom prst="roundRect">
            <a:avLst>
              <a:gd name="adj" fmla="val 3086"/>
            </a:avLst>
          </a:prstGeom>
          <a:solidFill>
            <a:srgbClr val="0B0F1A"/>
          </a:solidFill>
          <a:ln w="9525">
            <a:solidFill>
              <a:srgbClr val="DDD5EE"/>
            </a:solidFill>
            <a:prstDash val="solid"/>
          </a:ln>
        </p:spPr>
      </p:sp>
      <p:pic>
        <p:nvPicPr>
          <p:cNvPr id="15" name="Image 3" descr="/home/claude/work/word/media/image7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19272" y="2843784"/>
            <a:ext cx="2642616" cy="1426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291840" y="43251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System design: C4, ERD and OpenAPI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263640" y="1005840"/>
            <a:ext cx="2423160" cy="3520440"/>
          </a:xfrm>
          <a:prstGeom prst="roundRect">
            <a:avLst>
              <a:gd name="adj" fmla="val 2642"/>
            </a:avLst>
          </a:prstGeom>
          <a:solidFill>
            <a:srgbClr val="F3F0F8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40080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the prototype shows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0" y="146304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Live agent status, test health and HITL gate queue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Row-level locking demo on stock reservation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Auto-repair: failure, RAG match, patch, human review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C4 architecture, database schema and API contracts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We evaluate AegisDev at different stages of the workflow.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154680" cy="310896"/>
          </a:xfrm>
          <a:prstGeom prst="roundRect">
            <a:avLst>
              <a:gd name="adj" fmla="val 14706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618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Evaluation Areas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1261872"/>
            <a:ext cx="2606040" cy="310896"/>
          </a:xfrm>
          <a:prstGeom prst="roundRect">
            <a:avLst>
              <a:gd name="adj" fmla="val 14706"/>
            </a:avLst>
          </a:prstGeom>
          <a:solidFill>
            <a:srgbClr val="D8F0DC"/>
          </a:solidFill>
          <a:ln w="12700">
            <a:solidFill>
              <a:srgbClr val="D8F0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2618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Testing Methodology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261872"/>
            <a:ext cx="2286000" cy="310896"/>
          </a:xfrm>
          <a:prstGeom prst="roundRect">
            <a:avLst>
              <a:gd name="adj" fmla="val 14706"/>
            </a:avLst>
          </a:prstGeom>
          <a:solidFill>
            <a:srgbClr val="FBDADA"/>
          </a:solidFill>
          <a:ln w="12700">
            <a:solidFill>
              <a:srgbClr val="FBDA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261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Key Goal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3154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0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What We Check</a:t>
                      </a:r>
                      <a:endParaRPr lang="en-US" sz="10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Fix Accuracy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Does the full test suite pass?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Efficiency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Iterations, time, tokens, latency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Reasoning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Root cause and patch quality (1–5)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Retrieval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Relevant chunks and correct citations?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Governance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Escalations and approvals logged?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703320" y="1627632"/>
            <a:ext cx="2606040" cy="292608"/>
          </a:xfrm>
          <a:prstGeom prst="roundRect">
            <a:avLst>
              <a:gd name="adj" fmla="val 21875"/>
            </a:avLst>
          </a:prstGeom>
          <a:solidFill>
            <a:srgbClr val="E3F0FB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03320" y="1627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1. Select a seeded defect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03320" y="1965960"/>
            <a:ext cx="2606040" cy="292608"/>
          </a:xfrm>
          <a:prstGeom prst="roundRect">
            <a:avLst>
              <a:gd name="adj" fmla="val 21875"/>
            </a:avLst>
          </a:prstGeom>
          <a:solidFill>
            <a:srgbClr val="EAE4F7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03320" y="19659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2. Pick config: 3 retrieval × 2 LLM tiers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03320" y="2304288"/>
            <a:ext cx="2606040" cy="292608"/>
          </a:xfrm>
          <a:prstGeom prst="roundRect">
            <a:avLst>
              <a:gd name="adj" fmla="val 21875"/>
            </a:avLst>
          </a:prstGeom>
          <a:solidFill>
            <a:srgbClr val="E4F3E8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03320" y="23042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3. Run in Docker sandbox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703320" y="2642616"/>
            <a:ext cx="2606040" cy="292608"/>
          </a:xfrm>
          <a:prstGeom prst="roundRect">
            <a:avLst>
              <a:gd name="adj" fmla="val 21875"/>
            </a:avLst>
          </a:prstGeom>
          <a:solidFill>
            <a:srgbClr val="FCF1DA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03320" y="26426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4. Record success, iterations, tokens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703320" y="2980944"/>
            <a:ext cx="2606040" cy="292608"/>
          </a:xfrm>
          <a:prstGeom prst="roundRect">
            <a:avLst>
              <a:gd name="adj" fmla="val 21875"/>
            </a:avLst>
          </a:prstGeom>
          <a:solidFill>
            <a:srgbClr val="FBE3E3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703320" y="29809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5. Rate patch on 1–5 rubric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703320" y="3319272"/>
            <a:ext cx="2606040" cy="292608"/>
          </a:xfrm>
          <a:prstGeom prst="roundRect">
            <a:avLst>
              <a:gd name="adj" fmla="val 21875"/>
            </a:avLst>
          </a:prstGeom>
          <a:solidFill>
            <a:srgbClr val="E4F3E8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03320" y="3319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1F63"/>
                </a:solidFill>
              </a:rPr>
              <a:t>6. Repeat ≥ 3 times and compare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00800" y="1627632"/>
            <a:ext cx="2286000" cy="1993392"/>
          </a:xfrm>
          <a:prstGeom prst="roundRect">
            <a:avLst>
              <a:gd name="adj" fmla="val 3211"/>
            </a:avLst>
          </a:prstGeom>
          <a:solidFill>
            <a:srgbClr val="FFF5F5"/>
          </a:solidFill>
          <a:ln w="9525">
            <a:solidFill>
              <a:srgbClr val="E8A8A8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6510528" y="1737360"/>
            <a:ext cx="20848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3E1F63"/>
                </a:solidFill>
              </a:rPr>
              <a:t>“To verify that the system does not only generate a patch, but proves it with real tests, grounded retrieval and human approval.”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374904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Benchmark Setup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069080"/>
            <a:ext cx="1572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30352" y="408736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5–8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1261872" y="408736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seeded defects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121408" y="4069080"/>
            <a:ext cx="1572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194560" y="408736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2926080" y="408736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retrieval modes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785616" y="4069080"/>
            <a:ext cx="1572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858768" y="408736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4590288" y="408736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LLM tiers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449824" y="4069080"/>
            <a:ext cx="1572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22976" y="408736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6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6254496" y="408736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configurations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114032" y="4069080"/>
            <a:ext cx="157276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187184" y="408736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≥ 3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7918704" y="4087368"/>
            <a:ext cx="749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repeated runs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Success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989320" cy="292608"/>
          </a:xfrm>
          <a:prstGeom prst="roundRect">
            <a:avLst>
              <a:gd name="adj" fmla="val 15625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Important Metrics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43000" cy="1280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33502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1. Fix Success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21208" y="18288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Does the suite pass after the run?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64208" y="1280160"/>
            <a:ext cx="1143000" cy="1280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28216" y="133502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2. Retrieval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728216" y="18288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Precision@k, Recall@k, MRR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71216" y="1280160"/>
            <a:ext cx="1143000" cy="1280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35224" y="133502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3. Reasoning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35224" y="18288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1–5 rubric on root cause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78224" y="1280160"/>
            <a:ext cx="1143000" cy="1280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42232" y="133502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4. Efficiency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142232" y="18288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Iterations, time, tokens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85232" y="1280160"/>
            <a:ext cx="1143000" cy="1280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133502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5. Governance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18288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Escalations and approvals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5989320" cy="292608"/>
          </a:xfrm>
          <a:prstGeom prst="roundRect">
            <a:avLst>
              <a:gd name="adj" fmla="val 15625"/>
            </a:avLst>
          </a:prstGeom>
          <a:solidFill>
            <a:srgbClr val="D8F0DC"/>
          </a:solidFill>
          <a:ln w="12700">
            <a:solidFill>
              <a:srgbClr val="D8F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Verified Results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4447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05409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5/5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" y="35661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baseline unit tests passed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75104" y="3017520"/>
            <a:ext cx="14447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975104" y="305409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0.90 s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2048256" y="35661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PyTest run time (Python 3.12.7)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93008" y="3017520"/>
            <a:ext cx="14447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93008" y="305409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≤ 3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35661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repair iterations before escalation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10912" y="3017520"/>
            <a:ext cx="14447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10912" y="305409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5084064" y="35661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580"/>
                </a:solidFill>
              </a:rPr>
              <a:t>human approval gates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914400"/>
            <a:ext cx="2057400" cy="292608"/>
          </a:xfrm>
          <a:prstGeom prst="roundRect">
            <a:avLst>
              <a:gd name="adj" fmla="val 15625"/>
            </a:avLst>
          </a:prstGeom>
          <a:solidFill>
            <a:srgbClr val="D8F0DC"/>
          </a:solidFill>
          <a:ln w="12700">
            <a:solidFill>
              <a:srgbClr val="D8F0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29400" y="9144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1F63"/>
                </a:solidFill>
              </a:rPr>
              <a:t>Success Condition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29400" y="128016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E3F0FB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Requirements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1040" y="1344168"/>
            <a:ext cx="237744" cy="23774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21040" y="1344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173736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BE3E3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2084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Design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21040" y="1801368"/>
            <a:ext cx="237744" cy="23774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2104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29400" y="219456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CF1DA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2084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Code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321040" y="2258568"/>
            <a:ext cx="237744" cy="23774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21040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29400" y="265176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E4F3E8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72084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Tests pass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321040" y="2715768"/>
            <a:ext cx="237744" cy="23774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321040" y="2715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29400" y="310896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EAE4F7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208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Debug &amp; fix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21040" y="3172968"/>
            <a:ext cx="237744" cy="23774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321040" y="3172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629400" y="356616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FDEBDD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72084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Release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321040" y="3630168"/>
            <a:ext cx="237744" cy="23774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21040" y="3630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187952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FF0F0"/>
          </a:solidFill>
          <a:ln w="9525">
            <a:solidFill>
              <a:srgbClr val="E8A8A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94360" y="41879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B1B"/>
                </a:solidFill>
              </a:rPr>
              <a:t>Main Result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Success is a tested, reviewed, release-ready fix, not just an AI suggestion. Comparative results are reported only from verified benchmark runs.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Innovation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16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34440"/>
                <a:gridCol w="105156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2D8E"/>
                          </a:solidFill>
                        </a:rPr>
                        <a:t>Single-LLM Assistant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2D8E"/>
                          </a:solidFill>
                        </a:rPr>
                        <a:t>AegisDev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Requirement Understanding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Multi-Agent SDLC Coverage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Code Generation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Real Test Execution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Isolated Docker Sandbox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Past-Fix Memory Retrieval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Bounded Self-Correction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Human Approval Gates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Audit Trail &amp; Traceability</a:t>
                      </a:r>
                      <a:endParaRPr lang="en-US" sz="105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3A3A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0352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Our Innovation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371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AegisDev connects Requirements → Design → Code → Test → Debug → Review in one bounded, auditable workflow.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22402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</a:rPr>
              <a:t>Agent-driven retrieval: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memory, docs or none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</a:rPr>
              <a:t>Verified-fix memory: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only tested, approved patches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</a:rPr>
              <a:t>Least-privilege agents: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QA tests, Debugging proposes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</a:rPr>
              <a:t>Benchmark harness: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built-in evaluation runner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</a:rPr>
              <a:t>MCP sandbox: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non-root Docker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Real-World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Real-World Applicability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</a:rPr>
              <a:t>AegisDev can support: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Project managers tracking delivery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Developers automating repetitive debugging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QA teams validating acceptance criteria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Maintenance engineers reusing fix history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Teams adopting it without changing roles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EAE4F7"/>
          </a:solidFill>
          <a:ln w="15875">
            <a:solidFill>
              <a:srgbClr val="5B2D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AegisDev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0" cy="18288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2011680"/>
            <a:ext cx="301752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011680"/>
            <a:ext cx="0" cy="22860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0" y="2011680"/>
            <a:ext cx="0" cy="22860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2011680"/>
            <a:ext cx="0" cy="22860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228600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E4F3E8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23591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Vector Store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269748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Chroma → pgvector or managed DBs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97880" y="228600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E3F0FB"/>
          </a:solidFill>
          <a:ln w="15875">
            <a:solidFill>
              <a:srgbClr val="2F6F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52744" y="23591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Relational Store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71032" y="269748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SQLite → HA PostgreSQL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0" y="2286000"/>
            <a:ext cx="1371600" cy="1371600"/>
          </a:xfrm>
          <a:prstGeom prst="roundRect">
            <a:avLst>
              <a:gd name="adj" fmla="val 4667"/>
            </a:avLst>
          </a:prstGeom>
          <a:solidFill>
            <a:srgbClr val="FDEBDD"/>
          </a:solidFill>
          <a:ln w="15875">
            <a:solidFill>
              <a:srgbClr val="D982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70064" y="23591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1F63"/>
                </a:solidFill>
              </a:rPr>
              <a:t>Sandboxes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269748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Queue-based Docker workers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3657600"/>
            <a:ext cx="0" cy="22860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3657600"/>
            <a:ext cx="0" cy="22860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3657600"/>
            <a:ext cx="0" cy="22860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3886200"/>
            <a:ext cx="3017520" cy="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3886200"/>
            <a:ext cx="0" cy="137160"/>
          </a:xfrm>
          <a:prstGeom prst="line">
            <a:avLst/>
          </a:prstGeom>
          <a:noFill/>
          <a:ln w="19050">
            <a:solidFill>
              <a:srgbClr val="5B2D8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80560" y="4023360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AE3F4"/>
          </a:solidFill>
          <a:ln w="15875">
            <a:solidFill>
              <a:srgbClr val="B03A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40233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1F63"/>
                </a:solidFill>
              </a:rPr>
              <a:t>Multi-tenancy and cost-aware model routing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34440"/>
            <a:ext cx="2514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</a:rPr>
              <a:t>1. Broader evaluation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70992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1F63"/>
                </a:solidFill>
              </a:rPr>
              <a:t>Run standard public benchmarks such as SWE-bench tasks.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234440"/>
            <a:ext cx="2514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</a:rPr>
              <a:t>2. More languages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70992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1F63"/>
                </a:solidFill>
              </a:rPr>
              <a:t>Add runtime support for TypeScript, Go and Java.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25312" y="1234440"/>
            <a:ext cx="2514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53328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</a:rPr>
              <a:t>3. CI/CD integration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053328" y="170992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1F63"/>
                </a:solidFill>
              </a:rPr>
              <a:t>Connect to pipelines, GitHub pull requests and regression frameworks.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2926080"/>
            <a:ext cx="2514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</a:rPr>
              <a:t>4. Observability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40156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1F63"/>
                </a:solidFill>
              </a:rPr>
              <a:t>Add tracing through platforms like LangSmith.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73552" y="2926080"/>
            <a:ext cx="2514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01568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</a:rPr>
              <a:t>5. Multi-tenant memory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401568" y="340156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1F63"/>
                </a:solidFill>
              </a:rPr>
              <a:t>Fix memory with workspace isolation, cost-aware routing and prompt caching.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25312" y="2926080"/>
            <a:ext cx="25146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3328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</a:rPr>
              <a:t>6. More domains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053328" y="340156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1F63"/>
                </a:solidFill>
              </a:rPr>
              <a:t>Demonstrate on other subjects, e.g. an Employee Leave Management System.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86868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155448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170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AegisDev shows how Agentic AI can move beyond single-pass code generation toward an accountable software engineering workflow.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</a:rPr>
              <a:t>The system: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4206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turns a client brief into an SRS and plan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designs and implements code with 8 agents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runs real tests in an isolated Docker sandbox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retrieves past fixes with agentic RAG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self-corrects within a 3-iteration cap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escalates to humans through 6 approval gates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</a:rPr>
              <a:t>keeps a complete audit trail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737360"/>
            <a:ext cx="333756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DDD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78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</a:rPr>
              <a:t>Current Limitations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19456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B6580"/>
                </a:solidFill>
              </a:rPr>
              <a:t>Small benchmark on one application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B6580"/>
                </a:solidFill>
              </a:rPr>
              <a:t>Limited to Python and FastAPI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B6580"/>
                </a:solidFill>
              </a:rPr>
              <a:t>Retrieval depends on memory quality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B6580"/>
                </a:solidFill>
              </a:rPr>
              <a:t>LLM output is non-deterministic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B6580"/>
                </a:solidFill>
              </a:rPr>
              <a:t>No cloud provisioning or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7320" y="237744"/>
            <a:ext cx="6309360" cy="63093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2468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1F63"/>
                </a:solidFill>
              </a:rPr>
              <a:t>Department of Artificial Intelligence and Machine Learning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gisDev REC">
  <a:themeElements>
    <a:clrScheme name="AegisDev REC">
      <a:dk1>
        <a:srgbClr val="222222"/>
      </a:dk1>
      <a:lt1>
        <a:srgbClr val="FFFFFF"/>
      </a:lt1>
      <a:dk2>
        <a:srgbClr val="5B2D8E"/>
      </a:dk2>
      <a:lt2>
        <a:srgbClr val="F3F0F8"/>
      </a:lt2>
      <a:accent1>
        <a:srgbClr val="5B2D8E"/>
      </a:accent1>
      <a:accent2>
        <a:srgbClr val="F5C518"/>
      </a:accent2>
      <a:accent3>
        <a:srgbClr val="6B6580"/>
      </a:accent3>
      <a:accent4>
        <a:srgbClr val="3E1F63"/>
      </a:accent4>
      <a:accent5>
        <a:srgbClr val="2E8B57"/>
      </a:accent5>
      <a:accent6>
        <a:srgbClr val="2F6FB5"/>
      </a:accent6>
      <a:hlink>
        <a:srgbClr val="2F6FB5"/>
      </a:hlink>
      <a:folHlink>
        <a:srgbClr val="6B6580"/>
      </a:folHlink>
    </a:clrScheme>
    <a:fontScheme name="AegisDev RE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2026-10-05T17:16:16Z</dcterms:created>
  <dcterms:modified xsi:type="dcterms:W3CDTF">2026-10-05T17:16:16Z</dcterms:modified>
</cp:coreProperties>
</file>